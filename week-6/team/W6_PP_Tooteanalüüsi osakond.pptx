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1" r:id="rId4"/>
    <p:sldId id="259" r:id="rId5"/>
    <p:sldId id="258" r:id="rId6"/>
    <p:sldId id="257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7641D-1DDA-463D-9272-6F956897A44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55492-546B-422B-83AD-56E2CAEE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52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55492-546B-422B-83AD-56E2CAEE22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76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EB8D-E172-79B3-F9DF-E55AD095C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DADEB-97E8-F095-5D6A-1B0ADF66F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C7788-DEAE-EA48-5332-E5A1B0C8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EB226-F586-3601-6382-1517FFCA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ABDF-9E32-74C5-AC59-EAC02794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2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1DCB-D6C8-8209-8BC3-6632C400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AF27-3E74-ED4F-06C6-DB6C51A04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009C5-AD98-2BB1-70B6-7039106E3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1B30-233F-6AA6-56B6-4E1F0F5E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2CC7-4880-EBE0-5015-D2D2BD4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2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C044-C04E-191D-790A-14709AE2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32449-CAE3-0978-95B5-35592090C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EA5E-78B8-6F68-6674-9C131364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78A33-EF0B-416E-8907-730D7B94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85DE-16F4-181D-8BA2-53EEAE4A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F61D-CEBE-DCA8-1C8C-DA6A7463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C448-CD74-4A09-2576-59254EE6E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BF4DA-5FED-23AA-2DE8-1200695C2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285A7-A18E-21D7-7667-D29B23A8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C43DD-4452-813D-EF07-74842843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C6F7B-C84C-9146-3152-50846300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1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CC8D-70F1-B2E6-1EBE-B69246A3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8EA9-E222-B3B5-6A31-EC522BD20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5B876-92C1-DA00-4050-832B3BCB3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6CBD7-688B-4134-5677-21073A3D1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2E0D6-17CC-961F-D7E7-AAAE5EFA1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2CD56-E2DB-6F61-8069-D288938C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93C90-2EF9-A8E7-24AB-2E81CD13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E9022-DC9B-C9B6-0A10-0E65CE90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6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5616-389E-FBDE-D7AD-772185A9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131A6-C6C4-3C42-FE91-025D31EA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19FE-1C9D-54CA-34E7-6CADCC7E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60746-DD4B-1CA8-20F5-887103FC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1FE3D-27BE-C8AB-3BC3-588C5E9C0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79A68-210F-3D91-3280-3442E6E4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841F2-E53D-100F-6212-67FB4D56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1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FE1D-F7A7-A841-DB0A-0AC7F13A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B203F-0C5B-0E91-0A3D-4E5215778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03977-5FC9-131F-1FD2-CBFA0BE67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510CA-8B19-14BD-AF76-7BFD77E1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43509-884C-A775-E2A6-69D186DE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1D7FC-8A7A-6376-35AE-572236EA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5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7379-B175-470B-3312-EBE88F4C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F0FB5-6ACB-7CF8-D48C-9C3CDE08F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5C2A7-8720-6DFA-E292-499590DAB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8B7A-B692-54BD-F2C9-0BA16EDD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66011-BB20-8656-9191-CD35ECDA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799C3-23CC-E8C7-2E23-C69B1211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6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4749-0AB6-771D-5ACD-1C6BCB61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C0B3A-C1A3-BABB-E70D-EDA62A7BB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D3188-B37D-362D-126A-D94B4E71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CD17C-D2F8-F638-942B-663C8CC3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63BF9-C72E-D518-1363-4072980A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0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3C245-E16A-319A-8E7F-C26AA7868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0E9EB-B22C-768D-5E2C-BA6FEAC54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3B6DA-97C5-6BE0-6E85-09EF391F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C9414-7230-30C3-33C4-20231AD5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B1E48-81A0-F53B-8592-7858DEA0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5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27BB7-8C2D-F199-53D9-BAD17BAC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E8AE6-3DE1-6704-566C-9EFB13916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F3BEC-B106-4F72-2390-94110CE80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E8343-AF72-4AB7-B4EB-7F28DF7261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C513-AD7B-D0BC-6495-5C2C25DB1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D1C0-6F9F-E61E-C210-16770204C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BEE7D-7DF5-4B2C-A4FA-F24DA514F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49BC6-F360-0069-4283-49A7B2668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9243035" cy="3268520"/>
          </a:xfrm>
        </p:spPr>
        <p:txBody>
          <a:bodyPr>
            <a:normAutofit/>
          </a:bodyPr>
          <a:lstStyle/>
          <a:p>
            <a:pPr algn="l"/>
            <a:r>
              <a:rPr lang="et-EE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UrbanStyle’i asukohtade strateegiline analüüs 2023 – 2024 </a:t>
            </a:r>
            <a:br>
              <a:rPr lang="et-EE" sz="3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t-EE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Investor-</a:t>
            </a:r>
            <a:r>
              <a:rPr lang="et-EE" sz="24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ready</a:t>
            </a:r>
            <a:r>
              <a:rPr lang="et-EE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ülevaade digitaalsest kasvust ja lokaalsetest </a:t>
            </a:r>
            <a:br>
              <a:rPr lang="et-EE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t-EE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mustritest</a:t>
            </a:r>
            <a:endParaRPr lang="en-US" sz="3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B10CF-46C0-47CB-63E8-F05D2BF31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6607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t-EE" sz="1800" dirty="0">
                <a:solidFill>
                  <a:srgbClr val="FFFFFF"/>
                </a:solidFill>
              </a:rPr>
              <a:t>Nädal 6 – Tooteanalüüsi osakond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5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D1C46-0259-2111-D867-6262A545C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6023" cy="687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3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76A80D-B399-FD09-D76E-3F5B39768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1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1239B-D610-9676-9ACF-88AF13D55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/>
          <a:stretch>
            <a:fillRect/>
          </a:stretch>
        </p:blipFill>
        <p:spPr>
          <a:xfrm>
            <a:off x="0" y="124926"/>
            <a:ext cx="12192000" cy="673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6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2ED279-8B0B-098C-2D7A-ACB687AE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CDBF2-19A4-A36C-41D3-B401A2393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BE142-8063-9C7A-5C25-7D69EFA06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" y="0"/>
            <a:ext cx="12191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4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8EF1-0185-B5DF-BEB0-501B6A84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85" y="181085"/>
            <a:ext cx="10336358" cy="1190516"/>
          </a:xfrm>
        </p:spPr>
        <p:txBody>
          <a:bodyPr anchor="t">
            <a:normAutofit/>
          </a:bodyPr>
          <a:lstStyle/>
          <a:p>
            <a:pPr algn="ctr"/>
            <a:r>
              <a:rPr lang="et-EE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UrbanStyle’i asukohad näitavad, et digitaalne kasv ja Tallinna stabiilsus on meie edu alus</a:t>
            </a:r>
            <a:endParaRPr lang="en-US" sz="3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2FC9-B627-E9C5-0E29-8F8C1E293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6192" y="1454712"/>
            <a:ext cx="2372278" cy="2083615"/>
          </a:xfrm>
          <a:prstGeom prst="flowChartAlternateProcess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t-EE" sz="1800" b="1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Tallinn</a:t>
            </a:r>
          </a:p>
          <a:p>
            <a:pPr marL="0" indent="0">
              <a:buNone/>
            </a:pPr>
            <a:r>
              <a:rPr lang="et-EE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Stabiilne Ankur</a:t>
            </a:r>
          </a:p>
          <a:p>
            <a:pPr marL="0" indent="0">
              <a:buNone/>
            </a:pPr>
            <a:r>
              <a:rPr lang="et-EE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€1M </a:t>
            </a:r>
            <a:r>
              <a:rPr lang="et-EE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(+11%)</a:t>
            </a:r>
          </a:p>
          <a:p>
            <a:pPr marL="0" indent="0">
              <a:buNone/>
            </a:pPr>
            <a:r>
              <a:rPr lang="et-E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Tugev baas, aga 40% tulust on tundmatu (püsikliendi potentsiaal)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1186F7-E3B5-AF8B-BB1A-0FBAC0B729C3}"/>
              </a:ext>
            </a:extLst>
          </p:cNvPr>
          <p:cNvSpPr txBox="1">
            <a:spLocks/>
          </p:cNvSpPr>
          <p:nvPr/>
        </p:nvSpPr>
        <p:spPr>
          <a:xfrm>
            <a:off x="3204662" y="1454711"/>
            <a:ext cx="2372278" cy="2083615"/>
          </a:xfrm>
          <a:prstGeom prst="flowChartAlternateProcess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800" b="1">
                <a:solidFill>
                  <a:srgbClr val="161C2D"/>
                </a:solidFill>
                <a:latin typeface="Calibri"/>
              </a:defRPr>
            </a:pPr>
            <a:r>
              <a:rPr lang="et-EE" sz="2200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Tartu</a:t>
            </a:r>
          </a:p>
          <a:p>
            <a:pPr marL="0" indent="0">
              <a:lnSpc>
                <a:spcPct val="110000"/>
              </a:lnSpc>
              <a:buNone/>
              <a:defRPr sz="1800" b="1">
                <a:solidFill>
                  <a:srgbClr val="161C2D"/>
                </a:solidFill>
                <a:latin typeface="Calibri"/>
              </a:defRPr>
            </a:pPr>
            <a:r>
              <a:rPr lang="et-EE" sz="22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Lojaalsuse Väljakutse</a:t>
            </a:r>
          </a:p>
          <a:p>
            <a:pPr marL="0" indent="0">
              <a:buNone/>
            </a:pPr>
            <a:r>
              <a:rPr lang="et-EE" sz="35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€260K </a:t>
            </a:r>
            <a:r>
              <a:rPr lang="et-EE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(+11%)</a:t>
            </a:r>
          </a:p>
          <a:p>
            <a:pPr marL="0" indent="0">
              <a:lnSpc>
                <a:spcPct val="100000"/>
              </a:lnSpc>
              <a:buNone/>
              <a:defRPr sz="1200">
                <a:solidFill>
                  <a:srgbClr val="5A6270"/>
                </a:solidFill>
                <a:latin typeface="Calibri"/>
              </a:defRPr>
            </a:pPr>
            <a:r>
              <a:rPr lang="et-EE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Suur AOV (€291), kuid 36% klientidest anonüümsed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A3F361-6A48-E9F9-5A62-2E3831043ED2}"/>
              </a:ext>
            </a:extLst>
          </p:cNvPr>
          <p:cNvSpPr txBox="1">
            <a:spLocks/>
          </p:cNvSpPr>
          <p:nvPr/>
        </p:nvSpPr>
        <p:spPr>
          <a:xfrm>
            <a:off x="6000564" y="1454711"/>
            <a:ext cx="2372278" cy="2083615"/>
          </a:xfrm>
          <a:prstGeom prst="flowChartAlternateProcess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 sz="1600" b="1">
                <a:solidFill>
                  <a:srgbClr val="009E96"/>
                </a:solidFill>
                <a:latin typeface="Calibri"/>
              </a:defRPr>
            </a:pPr>
            <a:r>
              <a:rPr lang="et-EE" sz="2700" noProof="0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Pärnu</a:t>
            </a:r>
          </a:p>
          <a:p>
            <a:pPr marL="0" indent="0">
              <a:lnSpc>
                <a:spcPct val="110000"/>
              </a:lnSpc>
              <a:buNone/>
              <a:defRPr sz="1800" b="1">
                <a:solidFill>
                  <a:srgbClr val="161C2D"/>
                </a:solidFill>
                <a:latin typeface="Calibri"/>
              </a:defRPr>
            </a:pPr>
            <a:r>
              <a:rPr lang="et-EE" sz="27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Hooajaline Laine</a:t>
            </a:r>
          </a:p>
          <a:p>
            <a:pPr marL="0" indent="0">
              <a:buNone/>
            </a:pPr>
            <a:r>
              <a:rPr lang="et-EE" sz="43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€57K </a:t>
            </a:r>
            <a:endParaRPr lang="et-EE" sz="4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  <a:defRPr sz="1200">
                <a:solidFill>
                  <a:srgbClr val="5A6270"/>
                </a:solidFill>
                <a:latin typeface="Calibri"/>
              </a:defRPr>
            </a:pPr>
            <a:r>
              <a:rPr lang="et-EE" sz="2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Tugev suvetipp (kuni +80%</a:t>
            </a:r>
            <a:br>
              <a:rPr lang="et-EE" sz="2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t-EE" sz="2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üle keskmise), talvel</a:t>
            </a:r>
            <a:br>
              <a:rPr lang="et-EE" sz="2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t-EE" sz="23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alakasutatud potentsiaal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6100FE-2719-E16E-2220-64BD445CD1BF}"/>
              </a:ext>
            </a:extLst>
          </p:cNvPr>
          <p:cNvSpPr txBox="1">
            <a:spLocks/>
          </p:cNvSpPr>
          <p:nvPr/>
        </p:nvSpPr>
        <p:spPr>
          <a:xfrm>
            <a:off x="8781602" y="1454711"/>
            <a:ext cx="2372278" cy="2083615"/>
          </a:xfrm>
          <a:prstGeom prst="flowChartAlternateProcess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 sz="1600" b="1">
                <a:solidFill>
                  <a:srgbClr val="009E96"/>
                </a:solidFill>
                <a:latin typeface="Calibri"/>
              </a:defRPr>
            </a:pPr>
            <a:r>
              <a:rPr lang="et-EE" sz="2200" dirty="0">
                <a:solidFill>
                  <a:schemeClr val="accent3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E-pood</a:t>
            </a:r>
            <a:endParaRPr lang="et-EE" sz="2200" noProof="0" dirty="0">
              <a:solidFill>
                <a:schemeClr val="accent3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  <a:defRPr sz="1800" b="1">
                <a:solidFill>
                  <a:srgbClr val="161C2D"/>
                </a:solidFill>
                <a:latin typeface="Calibri"/>
              </a:defRPr>
            </a:pPr>
            <a:r>
              <a:rPr lang="et-EE" sz="2200" b="1" noProof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Hüperkasvu</a:t>
            </a:r>
            <a:r>
              <a:rPr lang="et-EE" sz="22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Mootor</a:t>
            </a:r>
          </a:p>
          <a:p>
            <a:pPr marL="0" indent="0">
              <a:buNone/>
            </a:pPr>
            <a:r>
              <a:rPr lang="et-EE" sz="3500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€1M </a:t>
            </a:r>
            <a:r>
              <a:rPr lang="et-EE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(+196%)</a:t>
            </a:r>
          </a:p>
          <a:p>
            <a:pPr marL="0" indent="0">
              <a:lnSpc>
                <a:spcPct val="100000"/>
              </a:lnSpc>
              <a:buNone/>
              <a:defRPr sz="1200">
                <a:solidFill>
                  <a:srgbClr val="5A6270"/>
                </a:solidFill>
                <a:latin typeface="Calibri"/>
              </a:defRPr>
            </a:pPr>
            <a:r>
              <a:rPr lang="et-EE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Kiireim kanal, geograafiliselt piiramatu potentsiaal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A22A9C-515D-469A-A8A7-0CF427536887}"/>
              </a:ext>
            </a:extLst>
          </p:cNvPr>
          <p:cNvSpPr txBox="1">
            <a:spLocks/>
          </p:cNvSpPr>
          <p:nvPr/>
        </p:nvSpPr>
        <p:spPr>
          <a:xfrm>
            <a:off x="416192" y="4039416"/>
            <a:ext cx="5160748" cy="208361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400">
                <a:solidFill>
                  <a:srgbClr val="161C2D"/>
                </a:solidFill>
                <a:latin typeface="Calibri"/>
              </a:defRPr>
            </a:pPr>
            <a:r>
              <a:rPr lang="et-EE" sz="1800" dirty="0" err="1">
                <a:solidFill>
                  <a:srgbClr val="FFFFFF"/>
                </a:solidFill>
              </a:rPr>
              <a:t>UrbanStyle</a:t>
            </a:r>
            <a:r>
              <a:rPr lang="et-EE" sz="1800" dirty="0">
                <a:solidFill>
                  <a:srgbClr val="FFFFFF"/>
                </a:solidFill>
              </a:rPr>
              <a:t> kasvab rekordkiirusel, kuid kasv on kanalite lõikes killustunud. </a:t>
            </a:r>
          </a:p>
          <a:p>
            <a:pPr marL="0" indent="0">
              <a:buNone/>
              <a:defRPr sz="1400">
                <a:solidFill>
                  <a:srgbClr val="161C2D"/>
                </a:solidFill>
                <a:latin typeface="Calibri"/>
              </a:defRPr>
            </a:pPr>
            <a:r>
              <a:rPr lang="et-EE" sz="1800" dirty="0">
                <a:solidFill>
                  <a:srgbClr val="FFFFFF"/>
                </a:solidFill>
              </a:rPr>
              <a:t>Meie suurim varjatud risk – ja võimalus – peitub tuhandetes anonüümsetes ostjates.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AE0E9E-8FCE-F08E-7EBB-295B355E7C90}"/>
              </a:ext>
            </a:extLst>
          </p:cNvPr>
          <p:cNvSpPr/>
          <p:nvPr/>
        </p:nvSpPr>
        <p:spPr>
          <a:xfrm>
            <a:off x="6015427" y="4039416"/>
            <a:ext cx="5153316" cy="21510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t-EE" b="1" dirty="0"/>
              <a:t>Strateegiline Fookus: </a:t>
            </a:r>
            <a:r>
              <a:rPr lang="et-EE" dirty="0"/>
              <a:t>Ühendada kanalid ühtse VIP-lojaalsusprogrammiga.</a:t>
            </a:r>
          </a:p>
          <a:p>
            <a:pPr algn="ctr"/>
            <a:endParaRPr lang="et-EE" dirty="0"/>
          </a:p>
          <a:p>
            <a:r>
              <a:rPr lang="et-EE" b="1" dirty="0"/>
              <a:t>Pimeala</a:t>
            </a:r>
            <a:r>
              <a:rPr lang="et-EE" dirty="0"/>
              <a:t>: Konkurentsiandmed ja täpne </a:t>
            </a:r>
            <a:r>
              <a:rPr lang="et-EE" dirty="0" err="1"/>
              <a:t>kliendihankimiskulu</a:t>
            </a:r>
            <a:r>
              <a:rPr lang="et-EE" dirty="0"/>
              <a:t> asukohtade lõikes.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17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14AC-26BE-EE07-542F-4D4B7AFD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58789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t-EE" sz="4000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Asukohtade süntees ja ühised mustrid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1535B-34AF-DFF7-9028-C78313BEE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579620"/>
            <a:ext cx="5097780" cy="176615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t-EE" sz="2400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Muster 1: Detsembri müügitipp</a:t>
            </a:r>
          </a:p>
          <a:p>
            <a:pPr marL="0" indent="0">
              <a:buNone/>
            </a:pPr>
            <a:r>
              <a:rPr lang="et-EE" sz="2400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Kõik neli kanalit näitavad üheselt, et Q4 jõuluhooaeg on ettevõtte absoluutne kasvuvedur.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6FA2E-E81C-A112-513B-9DACB50FC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18" y="1579620"/>
            <a:ext cx="5097780" cy="176615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t-EE" sz="2400" b="1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Muster 2: Jalatsite domineerimine</a:t>
            </a:r>
          </a:p>
          <a:p>
            <a:pPr marL="0" indent="0">
              <a:buNone/>
            </a:pPr>
            <a:r>
              <a:rPr lang="et-EE" sz="2400" noProof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Erinevalt Tallinnast, kus hitiks on seelikud ja rõivad, on Tartu ja Pärnu peamisteks müügimootoriteks jalatsid.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11E57F-DB84-1646-258E-F4CE817B2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12615"/>
              </p:ext>
            </p:extLst>
          </p:nvPr>
        </p:nvGraphicFramePr>
        <p:xfrm>
          <a:off x="838198" y="4022076"/>
          <a:ext cx="10515600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572514">
                  <a:extLst>
                    <a:ext uri="{9D8B030D-6E8A-4147-A177-3AD203B41FA5}">
                      <a16:colId xmlns:a16="http://schemas.microsoft.com/office/drawing/2014/main" val="2258886000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3767529662"/>
                    </a:ext>
                  </a:extLst>
                </a:gridCol>
                <a:gridCol w="5126734">
                  <a:extLst>
                    <a:ext uri="{9D8B030D-6E8A-4147-A177-3AD203B41FA5}">
                      <a16:colId xmlns:a16="http://schemas.microsoft.com/office/drawing/2014/main" val="3928440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t-EE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Asukoht</a:t>
                      </a:r>
                      <a:endParaRPr lang="en-US" dirty="0">
                        <a:solidFill>
                          <a:schemeClr val="tx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Käive</a:t>
                      </a:r>
                      <a:endParaRPr lang="en-US" dirty="0">
                        <a:solidFill>
                          <a:schemeClr val="tx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>
                          <a:solidFill>
                            <a:schemeClr val="tx2">
                              <a:lumMod val="90000"/>
                            </a:schemeClr>
                          </a:solidFill>
                        </a:rPr>
                        <a:t>Strateegiline roll</a:t>
                      </a:r>
                      <a:endParaRPr lang="en-US" dirty="0">
                        <a:solidFill>
                          <a:schemeClr val="tx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44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dirty="0"/>
                        <a:t>Tallinn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/>
                        <a:t>€ 1M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/>
                        <a:t>Cash </a:t>
                      </a:r>
                      <a:r>
                        <a:rPr lang="et-EE" dirty="0" err="1"/>
                        <a:t>Cow</a:t>
                      </a:r>
                      <a:r>
                        <a:rPr lang="et-EE" dirty="0"/>
                        <a:t> – stabiilne </a:t>
                      </a:r>
                      <a:r>
                        <a:rPr lang="et-EE" dirty="0" err="1"/>
                        <a:t>tulualiks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7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dirty="0"/>
                        <a:t>E-pood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/>
                        <a:t>€ 1M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 err="1"/>
                        <a:t>Growth</a:t>
                      </a:r>
                      <a:r>
                        <a:rPr lang="et-EE" dirty="0"/>
                        <a:t> </a:t>
                      </a:r>
                      <a:r>
                        <a:rPr lang="et-EE" dirty="0" err="1"/>
                        <a:t>Engine</a:t>
                      </a:r>
                      <a:r>
                        <a:rPr lang="et-EE" dirty="0"/>
                        <a:t> – </a:t>
                      </a:r>
                      <a:r>
                        <a:rPr lang="et-EE" dirty="0" err="1"/>
                        <a:t>skaleeritav</a:t>
                      </a:r>
                      <a:r>
                        <a:rPr lang="et-EE" dirty="0"/>
                        <a:t> digitaalne kasv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41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dirty="0"/>
                        <a:t>Tartu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/>
                        <a:t>€ 260K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 err="1"/>
                        <a:t>Niche</a:t>
                      </a:r>
                      <a:r>
                        <a:rPr lang="et-EE" dirty="0"/>
                        <a:t> </a:t>
                      </a:r>
                      <a:r>
                        <a:rPr lang="et-EE" dirty="0" err="1"/>
                        <a:t>Optimizer</a:t>
                      </a:r>
                      <a:r>
                        <a:rPr lang="et-EE" dirty="0"/>
                        <a:t> – kohaliku kliendi hoidja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263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t-EE" dirty="0"/>
                        <a:t>Pärnu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/>
                        <a:t>€ 57K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t-EE" dirty="0" err="1"/>
                        <a:t>Seasonal</a:t>
                      </a:r>
                      <a:r>
                        <a:rPr lang="et-EE" dirty="0"/>
                        <a:t> </a:t>
                      </a:r>
                      <a:r>
                        <a:rPr lang="et-EE" dirty="0" err="1"/>
                        <a:t>Optimizer</a:t>
                      </a:r>
                      <a:r>
                        <a:rPr lang="et-EE" dirty="0"/>
                        <a:t> – suvise turismi püüdja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55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302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620A-7B08-721B-5BE2-8F7975CD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8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t-EE" sz="4000" b="1" noProof="0" dirty="0"/>
              <a:t>Strateegilised vastused ja järgmised sammud</a:t>
            </a:r>
            <a:endParaRPr lang="et-EE" sz="4000" b="1" noProof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B62A-256D-F915-6440-17EFACF74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69185"/>
            <a:ext cx="3302104" cy="39106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defRPr sz="2000" b="1">
                <a:solidFill>
                  <a:srgbClr val="009E96"/>
                </a:solidFill>
                <a:latin typeface="Calibri"/>
              </a:defRPr>
            </a:pPr>
            <a:r>
              <a:rPr lang="et-EE" sz="2400" noProof="0" dirty="0">
                <a:solidFill>
                  <a:srgbClr val="FFFFFF"/>
                </a:solidFill>
              </a:rPr>
              <a:t>Suurimad üllatused</a:t>
            </a:r>
          </a:p>
          <a:p>
            <a:pPr marL="0" indent="0">
              <a:buNone/>
              <a:defRPr sz="1400">
                <a:solidFill>
                  <a:srgbClr val="161C2D"/>
                </a:solidFill>
                <a:latin typeface="Calibri"/>
              </a:defRPr>
            </a:pP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E‑poe uskumatu +196% kasv saavutas Tallinna käibetaseme.</a:t>
            </a: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Registreerimata klientide ootamatult suur potentsiaal Tartu </a:t>
            </a:r>
            <a:endParaRPr lang="et-EE" sz="1600" noProof="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266FCC-11FA-BF45-9A0A-14680F4CF787}"/>
              </a:ext>
            </a:extLst>
          </p:cNvPr>
          <p:cNvSpPr txBox="1">
            <a:spLocks/>
          </p:cNvSpPr>
          <p:nvPr/>
        </p:nvSpPr>
        <p:spPr>
          <a:xfrm>
            <a:off x="4343762" y="1669185"/>
            <a:ext cx="3504475" cy="3910617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000" b="1">
                <a:solidFill>
                  <a:srgbClr val="009E96"/>
                </a:solidFill>
                <a:latin typeface="Calibri"/>
              </a:defRPr>
            </a:pPr>
            <a:r>
              <a:rPr lang="et-EE" sz="2400" b="1" noProof="0" dirty="0">
                <a:solidFill>
                  <a:srgbClr val="FFFFFF"/>
                </a:solidFill>
                <a:latin typeface="Calibri"/>
              </a:rPr>
              <a:t>Investeerimisstrateegia</a:t>
            </a:r>
          </a:p>
          <a:p>
            <a:pPr marL="0" indent="0">
              <a:buNone/>
              <a:defRPr sz="1400">
                <a:solidFill>
                  <a:srgbClr val="161C2D"/>
                </a:solidFill>
                <a:latin typeface="Calibri"/>
              </a:defRPr>
            </a:pP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Suurendada e‑poe digitaalse turunduseelarvet.</a:t>
            </a: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Säilitada Tallinna püsiklientuuri agressiivne turundus.</a:t>
            </a: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Käivitada “talvestrateegia” Tartu ja Pärnu optimeerimiseks</a:t>
            </a:r>
            <a:endParaRPr lang="et-EE" sz="1600" noProof="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39D622-5D05-EFB2-8E8E-DB1F9BDB326F}"/>
              </a:ext>
            </a:extLst>
          </p:cNvPr>
          <p:cNvSpPr txBox="1">
            <a:spLocks/>
          </p:cNvSpPr>
          <p:nvPr/>
        </p:nvSpPr>
        <p:spPr>
          <a:xfrm>
            <a:off x="8051696" y="1669185"/>
            <a:ext cx="3302104" cy="3910617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000" b="1">
                <a:solidFill>
                  <a:srgbClr val="009E96"/>
                </a:solidFill>
                <a:latin typeface="Calibri"/>
              </a:defRPr>
            </a:pPr>
            <a:r>
              <a:rPr lang="et-EE" sz="2400" b="1" noProof="0" dirty="0">
                <a:solidFill>
                  <a:srgbClr val="FFFFFF"/>
                </a:solidFill>
                <a:latin typeface="Calibri"/>
              </a:rPr>
              <a:t>Puuduvad</a:t>
            </a:r>
            <a:r>
              <a:rPr lang="et-EE" sz="2400" noProof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t-EE" sz="2400" b="1" noProof="0" dirty="0">
                <a:solidFill>
                  <a:srgbClr val="FFFFFF"/>
                </a:solidFill>
                <a:latin typeface="Calibri"/>
              </a:rPr>
              <a:t>andmed</a:t>
            </a:r>
          </a:p>
          <a:p>
            <a:pPr marL="0" indent="0">
              <a:buNone/>
              <a:defRPr sz="1400">
                <a:solidFill>
                  <a:srgbClr val="161C2D"/>
                </a:solidFill>
                <a:latin typeface="Calibri"/>
              </a:defRPr>
            </a:pP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ROI hindamiseks on vaja täpseid logistika- ja tööjõukulusid.</a:t>
            </a: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b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</a:br>
            <a:r>
              <a:rPr lang="et-EE" sz="2000" noProof="0" dirty="0">
                <a:solidFill>
                  <a:schemeClr val="tx1">
                    <a:lumMod val="85000"/>
                  </a:schemeClr>
                </a:solidFill>
              </a:rPr>
              <a:t>• Vajalik konkurentide turuosa analüüs Tartus ja Pärnus.</a:t>
            </a:r>
          </a:p>
        </p:txBody>
      </p:sp>
    </p:spTree>
    <p:extLst>
      <p:ext uri="{BB962C8B-B14F-4D97-AF65-F5344CB8AC3E}">
        <p14:creationId xmlns:p14="http://schemas.microsoft.com/office/powerpoint/2010/main" val="2458253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DACA">
      <a:dk1>
        <a:srgbClr val="1A1A2E"/>
      </a:dk1>
      <a:lt1>
        <a:srgbClr val="FFFFFF"/>
      </a:lt1>
      <a:dk2>
        <a:srgbClr val="0E2841"/>
      </a:dk2>
      <a:lt2>
        <a:srgbClr val="F5F5F5"/>
      </a:lt2>
      <a:accent1>
        <a:srgbClr val="009B8D"/>
      </a:accent1>
      <a:accent2>
        <a:srgbClr val="008276"/>
      </a:accent2>
      <a:accent3>
        <a:srgbClr val="00645A"/>
      </a:accent3>
      <a:accent4>
        <a:srgbClr val="00544C"/>
      </a:accent4>
      <a:accent5>
        <a:srgbClr val="00AC9C"/>
      </a:accent5>
      <a:accent6>
        <a:srgbClr val="00C4B1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318</Words>
  <Application>Microsoft Office PowerPoint</Application>
  <PresentationFormat>Widescreen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UrbanStyle’i asukohtade strateegiline analüüs 2023 – 2024  Investor-ready ülevaade digitaalsest kasvust ja lokaalsetest  mustritest</vt:lpstr>
      <vt:lpstr>PowerPoint Presentation</vt:lpstr>
      <vt:lpstr>PowerPoint Presentation</vt:lpstr>
      <vt:lpstr>PowerPoint Presentation</vt:lpstr>
      <vt:lpstr>PowerPoint Presentation</vt:lpstr>
      <vt:lpstr>UrbanStyle’i asukohad näitavad, et digitaalne kasv ja Tallinna stabiilsus on meie edu alus</vt:lpstr>
      <vt:lpstr>Asukohtade süntees ja ühised mustrid</vt:lpstr>
      <vt:lpstr>Strateegilised vastused ja järgmised sammud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Loretta Meresmaa</dc:creator>
  <cp:lastModifiedBy>Loretta Meresmaa</cp:lastModifiedBy>
  <cp:revision>4</cp:revision>
  <dcterms:created xsi:type="dcterms:W3CDTF">2026-05-06T13:04:38Z</dcterms:created>
  <dcterms:modified xsi:type="dcterms:W3CDTF">2026-05-06T16:02:01Z</dcterms:modified>
</cp:coreProperties>
</file>